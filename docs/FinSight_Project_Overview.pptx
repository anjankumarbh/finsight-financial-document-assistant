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bf7de46bab4adb" /><Relationship Type="http://schemas.openxmlformats.org/officeDocument/2006/relationships/extended-properties" Target="/docProps/app.xml" Id="R1a594decccc14bcf" /><Relationship Type="http://schemas.openxmlformats.org/officeDocument/2006/relationships/officeDocument" Target="/ppt/presentation.xml" Id="R39d82b8d100d4d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955390be747da"/>
  </p:sldMasterIdLst>
  <p:notesMasterIdLst>
    <p:notesMasterId xmlns:r="http://schemas.openxmlformats.org/officeDocument/2006/relationships" r:id="R69221bdc1fc24e47"/>
  </p:notesMasterIdLst>
  <p:sldIdLst>
    <p:sldId xmlns:r="http://schemas.openxmlformats.org/officeDocument/2006/relationships" id="256" r:id="R71c2b36dc7d346e7"/>
    <p:sldId xmlns:r="http://schemas.openxmlformats.org/officeDocument/2006/relationships" id="257" r:id="Rcfd7517da2314d24"/>
    <p:sldId xmlns:r="http://schemas.openxmlformats.org/officeDocument/2006/relationships" id="258" r:id="R85e5a053a17d48e0"/>
    <p:sldId xmlns:r="http://schemas.openxmlformats.org/officeDocument/2006/relationships" id="259" r:id="Rddb56115165d4f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d65c6ea6f456a" /><Relationship Type="http://schemas.openxmlformats.org/officeDocument/2006/relationships/slideMaster" Target="/ppt/slideMasters/slideMaster1.xml" Id="R39c955390be747da" /><Relationship Type="http://schemas.openxmlformats.org/officeDocument/2006/relationships/notesMaster" Target="/ppt/notesMasters/notesMaster1.xml" Id="R69221bdc1fc24e47" /><Relationship Type="http://schemas.openxmlformats.org/officeDocument/2006/relationships/presProps" Target="/ppt/presProps.xml" Id="Ra8b4a84181114ed4" /><Relationship Type="http://schemas.openxmlformats.org/officeDocument/2006/relationships/tableStyles" Target="/ppt/tableStyles.xml" Id="R399e98e8cf3f4f09" /><Relationship Type="http://schemas.openxmlformats.org/officeDocument/2006/relationships/slide" Target="/ppt/slides/slide1.xml" Id="R71c2b36dc7d346e7" /><Relationship Type="http://schemas.openxmlformats.org/officeDocument/2006/relationships/slide" Target="/ppt/slides/slide2.xml" Id="Rcfd7517da2314d24" /><Relationship Type="http://schemas.openxmlformats.org/officeDocument/2006/relationships/slide" Target="/ppt/slides/slide3.xml" Id="R85e5a053a17d48e0" /><Relationship Type="http://schemas.openxmlformats.org/officeDocument/2006/relationships/slide" Target="/ppt/slides/slide4.xml" Id="Rddb56115165d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dda22281e46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3c2ac6834c4c9b" /><Relationship Type="http://schemas.openxmlformats.org/officeDocument/2006/relationships/notesMaster" Target="/ppt/notesMasters/notesMaster1.xml" Id="R556e2f4fa9de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5b6b2e454349fd" /><Relationship Type="http://schemas.openxmlformats.org/officeDocument/2006/relationships/notesMaster" Target="/ppt/notesMasters/notesMaster1.xml" Id="Rbb4879803ca6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79b423c8d94b2c" /><Relationship Type="http://schemas.openxmlformats.org/officeDocument/2006/relationships/notesMaster" Target="/ppt/notesMasters/notesMaster1.xml" Id="Rb4ae3c3be41b40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065a5db435473c" /><Relationship Type="http://schemas.openxmlformats.org/officeDocument/2006/relationships/notesMaster" Target="/ppt/notesMasters/notesMaster1.xml" Id="Rf9693c4a2723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17cb16f0543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817bdf73047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e9891bf204b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6eee419894a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f274c9fde42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8840ca8cf4e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790AB5-A7AE-4F36-91B7-26BE73BE8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689320-A74D-4916-8817-1BD1100C24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02A179-5336-44AB-8B81-4ECCDC7008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85D835-295B-474C-B8FB-401843B67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4BFD29-8702-455A-B86E-CCDB05405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F43EF5-5DC8-4E75-9D29-B2A341610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7A10A6-FD3F-494D-9880-0DE4B2CA9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09D2CE-C113-4845-BCC8-76237A98F0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B9189-F9BE-467D-86C6-5625AC588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B5F0E4-4602-4442-9CC2-374BA4E2F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61c3fc9e744dc" /><Relationship Type="http://schemas.openxmlformats.org/officeDocument/2006/relationships/slideLayout" Target="/ppt/slideLayouts/slideLayout1.xml" Id="R581c9650e1a14a22" /><Relationship Type="http://schemas.openxmlformats.org/officeDocument/2006/relationships/slideLayout" Target="/ppt/slideLayouts/slideLayout2.xml" Id="Rd32ec221dc644bfc" /><Relationship Type="http://schemas.openxmlformats.org/officeDocument/2006/relationships/slideLayout" Target="/ppt/slideLayouts/slideLayout3.xml" Id="R9a95dc2986004154" /><Relationship Type="http://schemas.openxmlformats.org/officeDocument/2006/relationships/slideLayout" Target="/ppt/slideLayouts/slideLayout4.xml" Id="Re076f32d418b4039" /><Relationship Type="http://schemas.openxmlformats.org/officeDocument/2006/relationships/slideLayout" Target="/ppt/slideLayouts/slideLayout5.xml" Id="R7c8071b80a32497d" /><Relationship Type="http://schemas.openxmlformats.org/officeDocument/2006/relationships/slideLayout" Target="/ppt/slideLayouts/slideLayout6.xml" Id="R1f2a9fa41fe6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c9650e1a14a22"/>
    <p:sldLayoutId xmlns:r="http://schemas.openxmlformats.org/officeDocument/2006/relationships" id="2147483650" r:id="Rd32ec221dc644bfc"/>
    <p:sldLayoutId xmlns:r="http://schemas.openxmlformats.org/officeDocument/2006/relationships" id="2147483651" r:id="R9a95dc2986004154"/>
    <p:sldLayoutId xmlns:r="http://schemas.openxmlformats.org/officeDocument/2006/relationships" id="2147483652" r:id="Re076f32d418b4039"/>
    <p:sldLayoutId xmlns:r="http://schemas.openxmlformats.org/officeDocument/2006/relationships" id="2147483653" r:id="R7c8071b80a32497d"/>
    <p:sldLayoutId xmlns:r="http://schemas.openxmlformats.org/officeDocument/2006/relationships" id="2147483654" r:id="R1f2a9fa41fe6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a78c5c1c343e4" /><Relationship Type="http://schemas.openxmlformats.org/officeDocument/2006/relationships/notesSlide" Target="/ppt/notesSlides/notesSlide1.xml" Id="Rf977433ba97341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a4207edbd4642" /><Relationship Type="http://schemas.openxmlformats.org/officeDocument/2006/relationships/chart" Target="/ppt/slides/charts/chart1.xml" Id="Ra62806a3f0a24104" /><Relationship Type="http://schemas.openxmlformats.org/officeDocument/2006/relationships/notesSlide" Target="/ppt/notesSlides/notesSlide2.xml" Id="R9120d9ceb78f4a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ed558a87c4f7f" /><Relationship Type="http://schemas.openxmlformats.org/officeDocument/2006/relationships/notesSlide" Target="/ppt/notesSlides/notesSlide3.xml" Id="R22d0f116351a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525b0387b4f79" /><Relationship Type="http://schemas.openxmlformats.org/officeDocument/2006/relationships/notesSlide" Target="/ppt/notesSlides/notesSlide4.xml" Id="R3f83730f0b8646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2E8B82"/>
            </a:solidFill>
          </c:spPr>
          <c:cat>
            <c:strRef>
              <c:f>'Chart Data'!$A$2:$A$5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820</c:v>
                </c:pt>
                <c:pt idx="1">
                  <c:v>960</c:v>
                </c:pt>
                <c:pt idx="2">
                  <c:v>1120</c:v>
                </c:pt>
                <c:pt idx="3">
                  <c:v>1285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B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1287F-C581-4B22-B78E-73907B7A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A6D8D0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A6D8D0"/>
                </a:solidFill>
              </a:defRPr>
            </a:pPr>
            <a:r>
              <a:rPr sz="1125" b="1">
                <a:solidFill>
                  <a:srgbClr val="A6D8D0"/>
                </a:solidFill>
              </a:rPr>
              <a:t>FINANCIAL DOCUMENT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C9EFD-2165-4B06-A775-C652F28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FinSight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7A7E3-71B8-40D0-9556-64E65BE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AF0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AF0"/>
                </a:solidFill>
              </a:defRPr>
            </a:pPr>
            <a:r>
              <a:rPr sz="2250" b="0">
                <a:solidFill>
                  <a:srgbClr val="DCEAF0"/>
                </a:solidFill>
              </a:rPr>
              <a:t>From scattered financial files</a:t>
            </a:r>
          </a:p>
          <a:p xmlns:a="http://schemas.openxmlformats.org/drawingml/2006/main">
            <a:pPr>
              <a:defRPr sz="2250" b="0">
                <a:solidFill>
                  <a:srgbClr val="DCEAF0"/>
                </a:solidFill>
              </a:defRPr>
            </a:pPr>
            <a:r>
              <a:rPr sz="2250" b="0">
                <a:solidFill>
                  <a:srgbClr val="DCEAF0"/>
                </a:solidFill>
              </a:rPr>
              <a:t>to clear, evidence-backed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E8C19-32F3-4529-B5A7-3F26760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C6D3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FC6D3"/>
                </a:solidFill>
              </a:defRPr>
            </a:pPr>
            <a:r>
              <a:rPr sz="1350" b="0">
                <a:solidFill>
                  <a:srgbClr val="AFC6D3"/>
                </a:solidFill>
              </a:rPr>
              <a:t>A localhost Streamlit project using RAG, Gemini, Chroma, and one focused LangChain agent.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66BE8-0482-40D5-A5F6-070E2D33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9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E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EF4F-EDDC-4B04-A7B1-E68A54EE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PDF  •  TXT  •  CSV  •  Excel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A8B27-3B88-4F08-AA8A-D75CF632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632DE-AF2C-4C3C-BDCD-0099D37A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E1723-2912-4D1B-9B87-8FB7F5E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8590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76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176" b="1">
                <a:solidFill>
                  <a:srgbClr val="FFFFFF"/>
                </a:solidFill>
              </a:defRPr>
            </a:pPr>
            <a:r>
              <a:rPr sz="4176" b="1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0EA2A-3244-4F5D-9E6E-87B13DE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240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72CA8-0932-4936-BB55-13534144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430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76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176" b="1">
                <a:solidFill>
                  <a:srgbClr val="FFFFFF"/>
                </a:solidFill>
              </a:defRPr>
            </a:pPr>
            <a:r>
              <a:rPr sz="4176" b="1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AD2C5-9E99-450C-B685-04856A8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7E074-357C-4EAF-89A9-2D13581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766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76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176" b="1">
                <a:solidFill>
                  <a:srgbClr val="FFFFFF"/>
                </a:solidFill>
              </a:defRPr>
            </a:pPr>
            <a:r>
              <a:rPr sz="4176" b="1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1601D-B08E-4984-9F93-5F349C4C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E00D9-6F25-4A68-ADA4-4971806B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9570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76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176" b="1">
                <a:solidFill>
                  <a:srgbClr val="FFFFFF"/>
                </a:solidFill>
              </a:defRPr>
            </a:pPr>
            <a:r>
              <a:rPr sz="4176" b="1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0937D-0580-474F-AA04-B4581C5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7F36A-46A1-45BA-800E-91C273E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FD9E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9E1"/>
                </a:solidFill>
              </a:defRPr>
            </a:pPr>
            <a:r>
              <a:rPr sz="1350" b="0">
                <a:solidFill>
                  <a:srgbClr val="BFD9E1"/>
                </a:solidFill>
              </a:rPr>
              <a:t>retrieve first</a:t>
            </a:r>
          </a:p>
          <a:p xmlns:a="http://schemas.openxmlformats.org/drawingml/2006/main">
            <a:pPr>
              <a:defRPr sz="1350" b="0">
                <a:solidFill>
                  <a:srgbClr val="BFD9E1"/>
                </a:solidFill>
              </a:defRPr>
            </a:pPr>
            <a:r>
              <a:rPr sz="1350" b="0">
                <a:solidFill>
                  <a:srgbClr val="BFD9E1"/>
                </a:solidFill>
              </a:rPr>
              <a:t>answer second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0CD0E-5464-47CC-B500-32BDFE6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625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CEAF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DCEAF0"/>
                </a:solidFill>
              </a:defRPr>
            </a:pPr>
            <a:r>
              <a:rPr sz="1275" b="0">
                <a:solidFill>
                  <a:srgbClr val="DCEAF0"/>
                </a:solidFill>
              </a:rPr>
              <a:t>Document evidence stays at the center of every answer.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3450C-8743-4FD7-BEE5-6F909CB7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BD0DD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BBD0DD"/>
                </a:solidFill>
              </a:defRPr>
            </a:pPr>
            <a:r>
              <a:rPr sz="900" b="0">
                <a:solidFill>
                  <a:srgbClr val="BBD0DD"/>
                </a:solidFill>
              </a:rPr>
              <a:t>University capstone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4867E-BDF3-4502-9EED-B257EABC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BD0DD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BBD0DD"/>
                </a:solidFill>
              </a:defRPr>
            </a:pPr>
            <a:r>
              <a:rPr sz="900" b="1">
                <a:solidFill>
                  <a:srgbClr val="BBD0DD"/>
                </a:solidFill>
              </a:rPr>
              <a:t>FinSight</a:t>
            </a:r>
          </a:p>
        </p:txBody>
      </p:sp>
    </p:spTree>
    <p:extLst>
      <p:ext uri="{BB962C8B-B14F-4D97-AF65-F5344CB8AC3E}">
        <p14:creationId xmlns:p14="http://schemas.microsoft.com/office/powerpoint/2010/main" val="393024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795FD-7973-4D40-B7BD-340D2BAD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F33"/>
                </a:solidFill>
              </a:defRPr>
            </a:pPr>
            <a:r>
              <a:rPr sz="3000" b="1">
                <a:solidFill>
                  <a:srgbClr val="0B1F33"/>
                </a:solidFill>
              </a:rPr>
              <a:t>What the user 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6DEF8-90E5-408B-96FC-8E28A2E9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3"/>
                </a:solidFill>
              </a:defRPr>
            </a:pPr>
            <a:r>
              <a:rPr sz="1500" b="0">
                <a:solidFill>
                  <a:srgbClr val="617183"/>
                </a:solidFill>
              </a:rPr>
              <a:t>One workspace for reading, reviewing, and asking.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89AEF-DCBF-439B-9F64-7A8B4B4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6191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C2854-D533-4F50-8C45-D78A332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253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2536"/>
                </a:solidFill>
              </a:defRPr>
            </a:pPr>
            <a:r>
              <a:rPr sz="1350" b="1">
                <a:solidFill>
                  <a:srgbClr val="162536"/>
                </a:solidFill>
              </a:rPr>
              <a:t>Revenue in the supplied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181CC-57DA-4040-A504-74429B86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3"/>
                </a:solidFill>
              </a:defRPr>
            </a:pPr>
            <a:r>
              <a:rPr sz="1050" b="0">
                <a:solidFill>
                  <a:srgbClr val="617183"/>
                </a:solidFill>
              </a:rPr>
              <a:t>FY2022 → FY2025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AB6E0D-5DD1-4AF0-83A0-919ED4ABFDDE}"/>
              </a:ext>
            </a:extLst>
          </p:cNvPr>
          <p:cNvGraphicFramePr/>
          <p:nvPr/>
        </p:nvGraphicFramePr>
        <p:xfrm>
          <a:off xmlns:a="http://schemas.openxmlformats.org/drawingml/2006/main" x="971550" y="2781300"/>
          <a:ext xmlns:a="http://schemas.openxmlformats.org/drawingml/2006/main" cx="54292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2806a3f0a2410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B1250-CE86-4221-B3E9-B2974F77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71650"/>
            <a:ext cx="41148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01FC2-97D3-471F-9C9F-B9D1CD02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69EEE-F60F-42EE-9F0A-B755CB47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9800"/>
            <a:ext cx="68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92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592" b="1">
                <a:solidFill>
                  <a:srgbClr val="FFFFFF"/>
                </a:solidFill>
              </a:defRPr>
            </a:pPr>
            <a:r>
              <a:rPr sz="2592" b="1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7FD86-98D8-4E8C-9D3C-53EB64A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Ask in plain 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6934D-AFDE-4D82-B843-12F3A1E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CEAF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DCEAF0"/>
                </a:solidFill>
              </a:defRPr>
            </a:pPr>
            <a:r>
              <a:rPr sz="1950" b="1">
                <a:solidFill>
                  <a:srgbClr val="DCEAF0"/>
                </a:solidFill>
              </a:rPr>
              <a:t>“What changed in revenue and profit?”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7F63F-7B01-4799-85BB-0C1BD65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3162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E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2ACCB-EDBE-4F77-9A37-20121524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from retrieved evidence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with a source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01BC8-91E2-4F0C-85EB-2ACFE4C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6D9D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B6D9D2"/>
                </a:solidFill>
              </a:defRPr>
            </a:pPr>
            <a:r>
              <a:rPr sz="1125" b="0">
                <a:solidFill>
                  <a:srgbClr val="B6D9D2"/>
                </a:solidFill>
              </a:rPr>
              <a:t>FY2025 revenue rose, while profit fell.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CD996-9C29-4C16-88D4-AB5690F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3"/>
                </a:solidFill>
              </a:defRPr>
            </a:pPr>
            <a:r>
              <a:rPr sz="900" b="0">
                <a:solidFill>
                  <a:srgbClr val="617183"/>
                </a:solidFill>
              </a:rPr>
              <a:t>Readable output, traceable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B3372-3FD7-4B61-A205-DD620F2B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17183"/>
                </a:solidFill>
              </a:defRPr>
            </a:pPr>
            <a:r>
              <a:rPr sz="900" b="1">
                <a:solidFill>
                  <a:srgbClr val="617183"/>
                </a:solidFill>
              </a:rPr>
              <a:t>FinSight</a:t>
            </a:r>
          </a:p>
        </p:txBody>
      </p:sp>
    </p:spTree>
    <p:extLst>
      <p:ext uri="{BB962C8B-B14F-4D97-AF65-F5344CB8AC3E}">
        <p14:creationId xmlns:p14="http://schemas.microsoft.com/office/powerpoint/2010/main" val="229812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F14A8-5F56-4235-8472-861838B5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F33"/>
                </a:solidFill>
              </a:defRPr>
            </a:pPr>
            <a:r>
              <a:rPr sz="3000" b="1">
                <a:solidFill>
                  <a:srgbClr val="0B1F33"/>
                </a:solidFill>
              </a:rPr>
              <a:t>How one question becomes an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30CE4-9C2F-4EAE-BB2C-65B6264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3"/>
                </a:solidFill>
              </a:defRPr>
            </a:pPr>
            <a:r>
              <a:rPr sz="1500" b="0">
                <a:solidFill>
                  <a:srgbClr val="617183"/>
                </a:solidFill>
              </a:rPr>
              <a:t>The pipeline stays short so it is easy to explain and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DE6D3-1641-4907-BED2-DFCB095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24100" cy="23431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5E1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D6C18-EDCB-4DF0-B04B-30AB474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F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F87D9-9903-44B3-96F9-FCA23BB5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83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68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68" b="1">
                <a:solidFill>
                  <a:srgbClr val="FFFFFF"/>
                </a:solidFill>
              </a:defRPr>
            </a:pPr>
            <a:r>
              <a:rPr sz="3168" b="1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95122-D9D0-4347-81D2-0C9D4DCE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8382D-DFFF-4E00-9AA7-45E2889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Validate PDF, TXT, CSV, or Excel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B8536-EAD9-43C1-A55E-D370A53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575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E8B82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E8B82"/>
                </a:solidFill>
              </a:defRPr>
            </a:pPr>
            <a:r>
              <a:rPr sz="2700" b="1">
                <a:solidFill>
                  <a:srgbClr val="2E8B8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36000-E419-4CC5-A569-EF8B1D3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324100" cy="23431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5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D748C-F75A-42D0-9428-599876AA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00677-A158-4B65-BF5D-6F2156E7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86050"/>
            <a:ext cx="83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68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68" b="1">
                <a:solidFill>
                  <a:srgbClr val="FFFFFF"/>
                </a:solidFill>
              </a:defRPr>
            </a:pPr>
            <a:r>
              <a:rPr sz="3168" b="1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57E93-7DBC-4CF8-9EDC-32168510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147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Read and chunk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D2111-9BC9-4431-921C-50D56AE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52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Turn pages and tables into searchable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B7FB9-D78B-4694-B142-092A9161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E8B82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E8B82"/>
                </a:solidFill>
              </a:defRPr>
            </a:pPr>
            <a:r>
              <a:rPr sz="2700" b="1">
                <a:solidFill>
                  <a:srgbClr val="2E8B8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F5ED1-798A-42D3-9B25-84DC0BCE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24100" cy="23431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5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58959-7F8A-45AC-A08C-4600549E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6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5CA5C-531C-4A42-9FDD-34F1A21A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83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68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68" b="1">
                <a:solidFill>
                  <a:srgbClr val="FFFFFF"/>
                </a:solidFill>
              </a:defRPr>
            </a:pPr>
            <a:r>
              <a:rPr sz="3168" b="1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E2B12-22E7-428A-B0C0-60C74B5A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CB52B-52C7-4E4D-AC76-67FD80B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Find the closest evidence in Chroma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87635-12B6-48B5-93AE-E267AA41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41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E8B82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E8B82"/>
                </a:solidFill>
              </a:defRPr>
            </a:pPr>
            <a:r>
              <a:rPr sz="2700" b="1">
                <a:solidFill>
                  <a:srgbClr val="2E8B8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4BBD2-B754-43F1-8CBB-62D1768C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324100" cy="23431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5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1DCE2-87FB-49DF-9FA4-C21BFB0E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F34E2-C80A-4BFD-BC91-8A4E2569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86050"/>
            <a:ext cx="838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68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68" b="1">
                <a:solidFill>
                  <a:srgbClr val="FFFFFF"/>
                </a:solidFill>
              </a:defRPr>
            </a:pPr>
            <a:r>
              <a:rPr sz="3168" b="1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80DD2-B3C0-41F8-B2FF-B8CD4618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Answer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AA16D-3821-4599-A712-FD16059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52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Gemini explains only the retrieved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93F84-5F52-49A7-8999-F3D6FE8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78867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2A99F-B0A2-4170-9336-83DB0F7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34000"/>
            <a:ext cx="746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E8B8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E8B82"/>
                </a:solidFill>
              </a:defRPr>
            </a:pPr>
            <a:r>
              <a:rPr sz="1350" b="1">
                <a:solidFill>
                  <a:srgbClr val="2E8B82"/>
                </a:solidFill>
              </a:rPr>
              <a:t>Grounding rule: if the files do not contain the answer, FinSight says so.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26D91-6C38-4E0F-B211-931D4CC1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3"/>
                </a:solidFill>
              </a:defRPr>
            </a:pPr>
            <a:r>
              <a:rPr sz="900" b="0">
                <a:solidFill>
                  <a:srgbClr val="617183"/>
                </a:solidFill>
              </a:rPr>
              <a:t>Chunking  •  embeddings  •  vector search  •  grounded generation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8D22C-7213-482E-AE33-69F8B450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17183"/>
                </a:solidFill>
              </a:defRPr>
            </a:pPr>
            <a:r>
              <a:rPr sz="900" b="1">
                <a:solidFill>
                  <a:srgbClr val="617183"/>
                </a:solidFill>
              </a:rPr>
              <a:t>FinSight</a:t>
            </a:r>
          </a:p>
        </p:txBody>
      </p:sp>
    </p:spTree>
    <p:extLst>
      <p:ext uri="{BB962C8B-B14F-4D97-AF65-F5344CB8AC3E}">
        <p14:creationId xmlns:p14="http://schemas.microsoft.com/office/powerpoint/2010/main" val="1831026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B32A0-E479-43A8-BD17-B74E7420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F33"/>
                </a:solidFill>
              </a:defRPr>
            </a:pPr>
            <a:r>
              <a:rPr sz="3000" b="1">
                <a:solidFill>
                  <a:srgbClr val="0B1F33"/>
                </a:solidFill>
              </a:rPr>
              <a:t>Grounded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60A54-B96E-4840-85C1-9E06080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3"/>
                </a:solidFill>
              </a:defRPr>
            </a:pPr>
            <a:r>
              <a:rPr sz="1500" b="0">
                <a:solidFill>
                  <a:srgbClr val="617183"/>
                </a:solidFill>
              </a:rPr>
              <a:t>Reliability controls keep the demo useful when evidence is incomplete.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084C3-220F-4038-90B4-3EB4A026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36004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AF37D-85B6-4A63-908E-2601A9C4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076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6900" b="0">
                <a:solidFill>
                  <a:srgbClr val="FFFFFF"/>
                </a:solidFill>
              </a:defRPr>
            </a:pPr>
            <a:r>
              <a:rPr sz="69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C883D-FDFD-4732-BD4E-11D4FF0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Evidence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65802-6C9B-4E0C-86DD-ADA4CAD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8DDE5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DE5"/>
                </a:solidFill>
              </a:defRPr>
            </a:pPr>
            <a:r>
              <a:rPr sz="1275" b="0">
                <a:solidFill>
                  <a:srgbClr val="C8DDE5"/>
                </a:solidFill>
              </a:rPr>
              <a:t>The model receives retrieved document context and a clear fallback when information is missing.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252CD-91D3-4FC8-9CFC-063F8497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49C84-74B4-4C80-A8F2-6A53855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12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12" b="1">
                <a:solidFill>
                  <a:srgbClr val="FFFFFF"/>
                </a:solidFill>
              </a:defRPr>
            </a:pPr>
            <a:r>
              <a:rPr sz="1512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9CDB3-D813-4B51-946F-EBA0BADD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Safe file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379CF-02BB-4765-8441-909A7B68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Reject unsupported, empty, damaged, and unreadable files.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D5DA6-F8D1-4B6D-B54E-E2B31AC2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986F9-001C-4738-8AB0-491D74D5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12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12" b="1">
                <a:solidFill>
                  <a:srgbClr val="FFFFFF"/>
                </a:solidFill>
              </a:defRPr>
            </a:pPr>
            <a:r>
              <a:rPr sz="1512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8D03C-5C5D-42B7-A33D-ABDAE143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Clear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F08A2-D78E-4EA4-94BC-F3FF71D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Stay within uploaded financial evidence and avoid investment advice.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42BA9-3D12-4B75-BF99-36CBAE4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DFB06-342E-46D2-9FD2-B6C9C03F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76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12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12" b="1">
                <a:solidFill>
                  <a:srgbClr val="FFFFFF"/>
                </a:solidFill>
              </a:defRPr>
            </a:pPr>
            <a:r>
              <a:rPr sz="1512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93604-4885-419C-A3D1-45B4A6A6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0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Visible 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38774-2D6B-46A7-8030-1485F9E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243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Separate reported facts from possible insights.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353B4-FE23-4A9D-A5A7-8DCF6E10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43573-1C95-4692-A9D6-82B100E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12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12" b="1">
                <a:solidFill>
                  <a:srgbClr val="FFFFFF"/>
                </a:solidFill>
              </a:defRPr>
            </a:pPr>
            <a:r>
              <a:rPr sz="1512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BC1ED-F742-48B6-9202-8D23D03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19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Known boundaries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D2640-F3EA-4A0F-8B1E-6D15581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434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183"/>
                </a:solidFill>
              </a:defRPr>
            </a:pPr>
            <a:r>
              <a:rPr sz="1200" b="0">
                <a:solidFill>
                  <a:srgbClr val="617183"/>
                </a:solidFill>
              </a:rPr>
              <a:t>Conflicts across companies and very long questions need care.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4403A-72EB-4C51-8559-43B87D05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10200"/>
            <a:ext cx="590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5B9CE-94CC-4F5F-AC41-9091E900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102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E8B8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E8B82"/>
                </a:solidFill>
              </a:defRPr>
            </a:pPr>
            <a:r>
              <a:rPr sz="1200" b="1">
                <a:solidFill>
                  <a:srgbClr val="2E8B82"/>
                </a:solidFill>
              </a:rPr>
              <a:t>Simple UI • one agent • one search tool • localhost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09C70-7C2F-42B4-9824-7630A55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3"/>
                </a:solidFill>
              </a:defRPr>
            </a:pPr>
            <a:r>
              <a:rPr sz="900" b="0">
                <a:solidFill>
                  <a:srgbClr val="617183"/>
                </a:solidFill>
              </a:rPr>
              <a:t>FinSight keeps the answer tied to the uploaded 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7B4B63-CED5-42CC-BB66-C6C9D567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17183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617183"/>
                </a:solidFill>
              </a:defRPr>
            </a:pPr>
            <a:r>
              <a:rPr sz="900" b="1">
                <a:solidFill>
                  <a:srgbClr val="617183"/>
                </a:solidFill>
              </a:rPr>
              <a:t>FinSight</a:t>
            </a:r>
          </a:p>
        </p:txBody>
      </p:sp>
    </p:spTree>
    <p:extLst>
      <p:ext uri="{BB962C8B-B14F-4D97-AF65-F5344CB8AC3E}">
        <p14:creationId xmlns:p14="http://schemas.microsoft.com/office/powerpoint/2010/main" val="944286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2026-10-12T03:12:37.5820000Z</dcterms:created>
  <dcterms:modified xsi:type="dcterms:W3CDTF">2026-10-12T03:12:37.5820000Z</dcterms:modified>
</coreProperties>
</file>